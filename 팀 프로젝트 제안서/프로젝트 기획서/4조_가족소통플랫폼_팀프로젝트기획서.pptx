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104016"/>
            <a:ext cx="1316236" cy="321469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104016"/>
            <a:ext cx="1316236" cy="321469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캡스톤 디자인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26819"/>
            <a:ext cx="4777746" cy="138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생성형 AI 기반 감정 분석 및 캐릭터 성장 시스템을 활용한 가족 소통 플랫폼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57200" y="3386947"/>
            <a:ext cx="4777746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팀: 에이원하조 (A1HaJo)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03070"/>
            <a:ext cx="477774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권유진(기획/AI) · 강민서(데이터/AI) · 차은비(AI/기획)</a:t>
            </a: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정윤도(UI/UX) · 김란아(UI/UX)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39521"/>
            <a:ext cx="11072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078" y="4328806"/>
            <a:ext cx="250388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github.com/kikimiya0606/capstone-project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489246" y="871538"/>
            <a:ext cx="3400425" cy="3400425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396" y="928688"/>
            <a:ext cx="3286125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팀 구성 및 상세 역할 분담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22" y="1332728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906" y="1761353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권유진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17934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" name="Text 4"/>
          <p:cNvSpPr/>
          <p:nvPr/>
        </p:nvSpPr>
        <p:spPr>
          <a:xfrm>
            <a:off x="617934" y="2023886"/>
            <a:ext cx="964406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기획 / AI 모델링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78656" y="2488230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프로젝트 일정 관리 및 팀 조율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78656" y="2865397"/>
            <a:ext cx="1128713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 설계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8656" y="3082556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KoBERT 감정 분류 모델 구조 설계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021681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78656" y="2488230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78656" y="2865397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78656" y="3082556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053" y="1332728"/>
            <a:ext cx="250031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28838" y="1761353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강민서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301180" y="2023886"/>
            <a:ext cx="1069777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9" name="Text 14"/>
          <p:cNvSpPr/>
          <p:nvPr/>
        </p:nvSpPr>
        <p:spPr>
          <a:xfrm>
            <a:off x="2301180" y="2023886"/>
            <a:ext cx="1069777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/ AI 모델링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414588" y="2488230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Hub 감정 데이터셋 수집 및 전처리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2414588" y="2865397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형태소 분석 및 감정 라벨링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414588" y="3242565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모델 학습 파이프라인 구축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3757613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2414588" y="2488230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2414588" y="2865397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2414588" y="3242565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406" y="1332728"/>
            <a:ext cx="357188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64769" y="1761353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차은비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089797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0" name="Text 24"/>
          <p:cNvSpPr/>
          <p:nvPr/>
        </p:nvSpPr>
        <p:spPr>
          <a:xfrm>
            <a:off x="4089797" y="2023886"/>
            <a:ext cx="964406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모델링 / 기획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150519" y="2488230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 GPT API 연동 및 프롬프트 엔지니어링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4150519" y="2865397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분석 결과 처리 로직 개발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150519" y="3242565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 서버 기능 구현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5493544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4150519" y="2488230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4150519" y="2865397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4150519" y="3242565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332728"/>
            <a:ext cx="214313" cy="2857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600700" y="1761353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정윤도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019502" y="2023886"/>
            <a:ext cx="576858" cy="196453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1" name="Text 34"/>
          <p:cNvSpPr/>
          <p:nvPr/>
        </p:nvSpPr>
        <p:spPr>
          <a:xfrm>
            <a:off x="6019502" y="2023886"/>
            <a:ext cx="576858" cy="19645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/ UX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5886450" y="2463226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Flutter 기반 감정 입력·캘린더 화면 구현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5886450" y="2840394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백엔드 API 연동 및 상태 관리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5886450" y="3217562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캐릭터 성장 시스템 로직 구현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7229475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9"/>
          <p:cNvSpPr/>
          <p:nvPr/>
        </p:nvSpPr>
        <p:spPr>
          <a:xfrm>
            <a:off x="5886450" y="2463226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5886450" y="2840394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5886450" y="3217562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988" y="1332728"/>
            <a:ext cx="285750" cy="28575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336631" y="1761353"/>
            <a:ext cx="14144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김란아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7755434" y="2023886"/>
            <a:ext cx="576858" cy="196453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2" name="Text 44"/>
          <p:cNvSpPr/>
          <p:nvPr/>
        </p:nvSpPr>
        <p:spPr>
          <a:xfrm>
            <a:off x="7755434" y="2023886"/>
            <a:ext cx="576858" cy="196453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/ UX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622381" y="2463226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앱 와이어프레임 및 디자인 시스템 설계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7622381" y="2840394"/>
            <a:ext cx="1128713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사용성 테스트 진행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7622381" y="3057553"/>
            <a:ext cx="1128713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컴포넌트 및 애니메이션 구현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622381" y="2463226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49"/>
          <p:cNvSpPr/>
          <p:nvPr/>
        </p:nvSpPr>
        <p:spPr>
          <a:xfrm>
            <a:off x="7622381" y="2840394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7622381" y="3057553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프로젝트 배경 및 필요성: 소통의 단절 해결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6471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5819" y="1234501"/>
            <a:ext cx="7679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사회적 배경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532753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현대 사회의 1인 가구 증가와 바쁜 생활 패턴으로 인해 가족 간 대화 시간이 급격히 감소하고 있으며, 이는 정서적 거리감 심화로 이어집니다.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047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0100" y="2158501"/>
            <a:ext cx="7679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기술적 배경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500" y="2456752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기존 메신저는 단순 정보 전달에 치중되어 있습니다. 최신 AI 감정 분석 기술을 통해 사용자의 마음을 읽고 공감을 유도하는 새로운 소통 방식이 필요합니다.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4470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3082500"/>
            <a:ext cx="6232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추진 동기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71500" y="3380752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기록을 가족 간 대화의 매개체로 활용하고, 캐릭터 성장 시스템(Gamification)을 도입하여 지속적이고 즐거운 소통 환경을 구축하고자 합니다.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143500" y="1234501"/>
            <a:ext cx="3714750" cy="3000375"/>
          </a:xfrm>
          <a:prstGeom prst="rect">
            <a:avLst/>
          </a:prstGeom>
          <a:solidFill>
            <a:srgbClr val="000000">
              <a:alpha val="0"/>
            </a:srgbClr>
          </a:solidFill>
          <a:ln w="73152">
            <a:solidFill>
              <a:srgbClr val="FFFFFF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38" y="1234501"/>
            <a:ext cx="35718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주요 기능 요약: AI와 게임 요소의 결합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3929063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05939"/>
            <a:ext cx="3500438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670270"/>
            <a:ext cx="3500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감정 분석 &amp; 공감 알림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85813" y="1968522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사용자의 일상 기록을 KoBERT로 분석하여 감정 상태를 파악하고, 가족에게 따뜻한 공감 메시지를 자동 생성하여 전달합니다.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643438" y="1091626"/>
            <a:ext cx="3929063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305939"/>
            <a:ext cx="3500438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0" y="1670270"/>
            <a:ext cx="3500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기반 데일리 질문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857750" y="1968522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가족 구성원 간의 대화가 끊기지 않도록 AI가 매일 새로운 맞춤형 질문을 생성하여 자연스러운 소통을 유도합니다.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71500" y="2520376"/>
            <a:ext cx="3929063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734689"/>
            <a:ext cx="3500438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5813" y="3099020"/>
            <a:ext cx="3500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가족 공유 정원 성장 시스템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85813" y="3397272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소통 활동량에 따라 공동의 캐릭터와 정원이 성장하는 게이미피케이션 요소를 도입하여 즐거운 참여를 이끌어냅니다.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643438" y="2520376"/>
            <a:ext cx="3929063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734689"/>
            <a:ext cx="3500438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57750" y="3099020"/>
            <a:ext cx="3500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스마트 일정 공유 &amp; 타임캡슐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857750" y="3397272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가족의 일정을 한눈에 관리하고, 과거의 감정 기록을 타임캡슐처럼 보관하여 소중한 추억을 함께 회고합니다.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656" y="3877689"/>
            <a:ext cx="5500688" cy="1214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프로젝트 목표 및 기대효과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44337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2988" y="1305939"/>
            <a:ext cx="99119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프로젝트 목표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1761353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556" y="1732778"/>
            <a:ext cx="319325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감정 분석 시스템 구축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사용자의 일상을 깊이 있게 이해하는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한국어 특화 감정 분석 모델 구현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292837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1556" y="2264262"/>
            <a:ext cx="319325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자연스러운 대화 유도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가족 구성원 간의 대화 단절을 해소하기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위한 AI 기반 맞춤형 질문 생성</a:t>
            </a:r>
            <a:endParaRPr lang="en-US" sz="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824321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1556" y="2795746"/>
            <a:ext cx="319325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지속적 참여 유도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게이미피케이션(캐릭터 성장)을 통한 꾸준한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서비스 이용 환경 제공</a:t>
            </a:r>
            <a:endParaRPr lang="en-US" sz="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355804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21556" y="3327229"/>
            <a:ext cx="319325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디지털 아카이브 구축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가족의 소중한 감정과 추억을 데이터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기반으로 보관 및 회고</a:t>
            </a:r>
            <a:endParaRPr lang="en-US" sz="850" dirty="0"/>
          </a:p>
        </p:txBody>
      </p:sp>
      <p:sp>
        <p:nvSpPr>
          <p:cNvPr id="15" name="Shape 7"/>
          <p:cNvSpPr/>
          <p:nvPr/>
        </p:nvSpPr>
        <p:spPr>
          <a:xfrm>
            <a:off x="4714875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344337"/>
            <a:ext cx="171450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86363" y="1305939"/>
            <a:ext cx="6286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기대효과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761353"/>
            <a:ext cx="112514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48858" y="1732778"/>
            <a:ext cx="320933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정서적 유대감 강화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가족 간의 오해를 줄이고 서로의 감정을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공감하며 정서적 거리 감소</a:t>
            </a:r>
            <a:endParaRPr lang="en-US" sz="8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292837"/>
            <a:ext cx="112514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48858" y="2264262"/>
            <a:ext cx="320933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사용자 공감 경험 확대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AI가 생성한 공감 메시지를 통해 일상 속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따뜻한 위로와 지지 획득</a:t>
            </a:r>
            <a:endParaRPr lang="en-US" sz="8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824321"/>
            <a:ext cx="112514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148858" y="2795746"/>
            <a:ext cx="320933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가족 관계 개선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데이터에 기반한 대화 주제 제공으로 서먹한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관계의 자연스러운 개선</a:t>
            </a:r>
            <a:endParaRPr lang="en-US" sz="85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3355804"/>
            <a:ext cx="112514" cy="12858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148858" y="3327229"/>
            <a:ext cx="320933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활용성 검증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생성형 AI와 감정 분석 기술의 실생활 문제 해결 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가능성 입증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시장 벤치마킹 및 차별성 분석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8001000" cy="1551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5072" y="1095198"/>
            <a:ext cx="1858128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1095198"/>
            <a:ext cx="185812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33200" y="1095198"/>
            <a:ext cx="1458609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33200" y="1095198"/>
            <a:ext cx="1458609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Between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88098" y="1095198"/>
            <a:ext cx="1383599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8098" y="1095198"/>
            <a:ext cx="1383599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Slowly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69074" y="1095198"/>
            <a:ext cx="1502197" cy="308967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69074" y="1095198"/>
            <a:ext cx="1502197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71270" y="1095198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71270" y="1095198"/>
            <a:ext cx="179765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에이원하조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5072" y="1397022"/>
            <a:ext cx="1861086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주요 타겟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36158" y="1397022"/>
            <a:ext cx="144822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커플/가족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84386" y="1397022"/>
            <a:ext cx="138468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개인(펜팔)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69074" y="1397022"/>
            <a:ext cx="1502197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커플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71270" y="1397022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71270" y="1397022"/>
            <a:ext cx="179765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가족 전체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5072" y="1705989"/>
            <a:ext cx="1861086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분석</a:t>
            </a:r>
            <a:endParaRPr lang="en-US" sz="9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089" y="1844399"/>
            <a:ext cx="80367" cy="128588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32" y="1844399"/>
            <a:ext cx="80367" cy="128588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988" y="1844399"/>
            <a:ext cx="80367" cy="1285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771270" y="1705989"/>
            <a:ext cx="179765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649" y="1842613"/>
            <a:ext cx="128588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08236" y="1830112"/>
            <a:ext cx="6607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(KoBERT)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75072" y="2014956"/>
            <a:ext cx="1862565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대화 유도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437637" y="2014956"/>
            <a:ext cx="1449372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일정 중심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3887009" y="2014956"/>
            <a:ext cx="1385804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편지 형식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272813" y="2014956"/>
            <a:ext cx="1503397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질문 기반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776210" y="2014956"/>
            <a:ext cx="179271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776210" y="2014956"/>
            <a:ext cx="179271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맞춤 질문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75072" y="2323923"/>
            <a:ext cx="1862565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게이미피케이션</a:t>
            </a:r>
            <a:endParaRPr lang="en-US" sz="9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126" y="2462333"/>
            <a:ext cx="80367" cy="128588"/>
          </a:xfrm>
          <a:prstGeom prst="rect">
            <a:avLst/>
          </a:prstGeom>
        </p:spPr>
      </p:pic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714" y="2462333"/>
            <a:ext cx="80367" cy="128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72813" y="2323923"/>
            <a:ext cx="1503397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캐릭터 성장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776210" y="2323923"/>
            <a:ext cx="1792718" cy="308967"/>
          </a:xfrm>
          <a:prstGeom prst="rect">
            <a:avLst/>
          </a:prstGeom>
          <a:solidFill>
            <a:srgbClr val="FFF5F5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776210" y="2323923"/>
            <a:ext cx="1792718" cy="30896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공유 정원 성장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71500" y="2922212"/>
            <a:ext cx="2571750" cy="100012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1" name="Text 32"/>
          <p:cNvSpPr/>
          <p:nvPr/>
        </p:nvSpPr>
        <p:spPr>
          <a:xfrm>
            <a:off x="714375" y="3065087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가족 중심 구조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714375" y="334369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커플 위주의 기존 앱과 달리 다자간 소통이 가능한 가족 최적화 인터페이스 제공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3286125" y="2922212"/>
            <a:ext cx="2571750" cy="1000125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44" name="Text 35"/>
          <p:cNvSpPr/>
          <p:nvPr/>
        </p:nvSpPr>
        <p:spPr>
          <a:xfrm>
            <a:off x="3429000" y="3065087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정서 교류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3429000" y="334369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단순 메신저를 넘어 AI가 감정을 분석하고 공감 메시지를 생성하여 깊은 유대감 형성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000750" y="2922212"/>
            <a:ext cx="2571750" cy="10001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7" name="Text 38"/>
          <p:cNvSpPr/>
          <p:nvPr/>
        </p:nvSpPr>
        <p:spPr>
          <a:xfrm>
            <a:off x="6143625" y="3065087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지속적 상호작용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6143625" y="3343694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정원 가꾸기 요소를 통해 가족이 함께 목표를 달성하며 앱 사용의 재미와 지속성 확보</a:t>
            </a:r>
            <a:endParaRPr lang="en-US" sz="8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7143750" y="4214813"/>
            <a:ext cx="1428750" cy="785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적용 AI 기술 및 모델 구조 설계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66648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234501"/>
            <a:ext cx="12787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생성형 AI (GPT-4o)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71500" y="1498820"/>
            <a:ext cx="44005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상황에 맞는 공감 메시지 생성, 가족 간 대화 유도를 위한 데일리 질문 자동 생성 및 감정 기반 요약 리포트 제공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5287"/>
            <a:ext cx="17859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2043140"/>
            <a:ext cx="143768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자연어 처리 (KoBERT)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71500" y="2307459"/>
            <a:ext cx="44005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한국어 특화 감정 분류 모델을 활용하여 텍스트 데이터에서 미세한 감정 변화를 감지하고 다중 라벨링 수행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83926"/>
            <a:ext cx="16073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672" y="2851779"/>
            <a:ext cx="8340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추천 알고리즘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1500" y="3116098"/>
            <a:ext cx="44005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사용자의 과거 감정 이력과 소통 패턴을 분석하여 개인화된 콘텐츠 및 대화 주제 추천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571500" y="3513274"/>
            <a:ext cx="4400550" cy="557213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8"/>
          <p:cNvSpPr/>
          <p:nvPr/>
        </p:nvSpPr>
        <p:spPr>
          <a:xfrm>
            <a:off x="714375" y="3656149"/>
            <a:ext cx="41148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흐름도 (Data Pipeline)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714375" y="3915110"/>
            <a:ext cx="519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입력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520" y="3949936"/>
            <a:ext cx="53578" cy="857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30536" y="3915110"/>
            <a:ext cx="8804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KoBERT 감정 분석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2441" y="3949936"/>
            <a:ext cx="53578" cy="857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07456" y="3915110"/>
            <a:ext cx="666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 응답 생성</a:t>
            </a:r>
            <a:endParaRPr lang="en-US" sz="8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048" y="3949936"/>
            <a:ext cx="53578" cy="857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370064" y="3915110"/>
            <a:ext cx="6786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 저장</a:t>
            </a:r>
            <a:endParaRPr lang="en-US" sz="8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234501"/>
            <a:ext cx="3543300" cy="3328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모델 구조 및 알고리즘 설계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1705570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8656" y="1434526"/>
            <a:ext cx="14698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8656" y="1591689"/>
            <a:ext cx="146982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사용자 입력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(텍스트/일기)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514" y="1517572"/>
            <a:ext cx="107156" cy="1714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48545" y="1091626"/>
            <a:ext cx="1712714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62845" y="1447028"/>
            <a:ext cx="147697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02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2762845" y="1604190"/>
            <a:ext cx="147697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KoBERT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감정 분석 모델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847" y="1517572"/>
            <a:ext cx="107156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39878" y="1091626"/>
            <a:ext cx="1719858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61322" y="1447028"/>
            <a:ext cx="148411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03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4861322" y="1604190"/>
            <a:ext cx="1484114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OpenAI GPT-4o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응답 생성 API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467" y="1517572"/>
            <a:ext cx="107156" cy="1714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45498" y="1091626"/>
            <a:ext cx="1727002" cy="10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974086" y="1420239"/>
            <a:ext cx="14912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STEP 04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6974086" y="1577401"/>
            <a:ext cx="149125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Firebase DB 저장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&amp; 피드백 제공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71500" y="2377501"/>
            <a:ext cx="2571750" cy="142875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34664"/>
            <a:ext cx="128588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0113" y="2520376"/>
            <a:ext cx="12983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Sentiment Analysis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714375" y="2748976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KoBERT 기반 한국어 특화 감정 분류 모델을 활용하여 일상 텍스트에서 긍정, 부정, 중립 등 세밀한 감정 상태를 도출합니다.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3286125" y="2377501"/>
            <a:ext cx="2571750" cy="142875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534664"/>
            <a:ext cx="128588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14738" y="2520376"/>
            <a:ext cx="13733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3429000" y="2748976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분석된 감정 데이터를 바탕으로 가족 구성원에게 최적화된 공감 메시지와 자연스러운 대화 유도 질문을 생성하는 프롬프트 기술을 적용합니다.</a:t>
            </a:r>
            <a:endParaRPr lang="en-US" sz="750" dirty="0"/>
          </a:p>
        </p:txBody>
      </p:sp>
      <p:sp>
        <p:nvSpPr>
          <p:cNvPr id="27" name="Shape 19"/>
          <p:cNvSpPr/>
          <p:nvPr/>
        </p:nvSpPr>
        <p:spPr>
          <a:xfrm>
            <a:off x="6000750" y="2377501"/>
            <a:ext cx="2571750" cy="142875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2549844"/>
            <a:ext cx="128588" cy="1285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29363" y="2520376"/>
            <a:ext cx="7429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추천 알고리즘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6143625" y="2779337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사용자의 과거 감정 이력과 소통 패턴을 분석하여, 현재 상황에 가장 적합한 대화 주제와 가족 활동 콘텐츠를 추천합니다.</a:t>
            </a:r>
            <a:endParaRPr lang="en-US" sz="7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7286625" y="4277320"/>
            <a:ext cx="1285875" cy="723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수집 및 전처리 계획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25" y="1547040"/>
            <a:ext cx="250031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011384"/>
            <a:ext cx="204788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데이터 출처 및 수집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71563" y="2381073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Hub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한국어 감정 데이터셋 활용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071563" y="2853956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Hugging Face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기반 감정 분석 공개 데이터셋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071563" y="3326839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테스트를 통한 실데이터 수집 (동의 기반)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333759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1071563" y="2381073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71563" y="2853956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071563" y="3326839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1547040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8072" y="2011384"/>
            <a:ext cx="204788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전처리 프로세스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833822" y="2381073"/>
            <a:ext cx="1762134" cy="182863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불용어 제거 및 맞춤법 정제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833822" y="2671093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KoNLPy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활용 형태소 분석 및 토큰화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833822" y="3143976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다중 감정 라벨링 (긍정/부정/중립 등 7개 범주)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096019" y="1234501"/>
            <a:ext cx="2476509" cy="3143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3833822" y="2381073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833822" y="2671093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833822" y="3143976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84" y="1547040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10331" y="2011384"/>
            <a:ext cx="204788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윤리적 고려사항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596081" y="2381073"/>
            <a:ext cx="1762134" cy="182863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개인정보 </a:t>
            </a: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비식별화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처리 (가명화)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596081" y="2671093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동의 기반 데이터 활용 원칙 준수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596081" y="3143976"/>
            <a:ext cx="1762134" cy="36572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데이터 암호화 저장 및 접근 제어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596081" y="2381073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596081" y="2671093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596081" y="3143976"/>
            <a:ext cx="410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개발 환경 및 구현 도구 상세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63064"/>
            <a:ext cx="4243388" cy="3180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3064"/>
            <a:ext cx="1093273" cy="30539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61315"/>
            <a:ext cx="109327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163064"/>
            <a:ext cx="1093273" cy="305395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64773" y="1163064"/>
            <a:ext cx="3150115" cy="305395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9" name="Shape 6"/>
          <p:cNvSpPr/>
          <p:nvPr/>
        </p:nvSpPr>
        <p:spPr>
          <a:xfrm>
            <a:off x="1664773" y="1461315"/>
            <a:ext cx="315011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1664773" y="1163064"/>
            <a:ext cx="3150115" cy="305395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사용 기술 및 환경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464887"/>
            <a:ext cx="1093273" cy="475059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프론트엔드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64773" y="1464887"/>
            <a:ext cx="3150115" cy="475059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Flutter (Dart)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1939947"/>
            <a:ext cx="1093273" cy="478631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백엔드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64773" y="1939947"/>
            <a:ext cx="3150115" cy="47863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Firebase, Node.js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1500" y="2418578"/>
            <a:ext cx="1093273" cy="478631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모델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64773" y="2418578"/>
            <a:ext cx="3150115" cy="47863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 GPT API, KoBERT (Hugging Face)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" y="2897209"/>
            <a:ext cx="1093273" cy="478631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데이터베이스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664773" y="2897209"/>
            <a:ext cx="3150115" cy="47863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Firebase Realtime Database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1500" y="3375840"/>
            <a:ext cx="1093273" cy="478631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개발언어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664773" y="3375840"/>
            <a:ext cx="3150115" cy="47863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Dart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71500" y="3854472"/>
            <a:ext cx="1093273" cy="478631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협업도구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664773" y="3854472"/>
            <a:ext cx="3150115" cy="47863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GitHub, Notion</a:t>
            </a:r>
            <a:endParaRPr lang="en-US" sz="8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638" y="1266648"/>
            <a:ext cx="178594" cy="14287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50669" y="1234501"/>
            <a:ext cx="9179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LLM 활용 방안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386388" y="1555970"/>
            <a:ext cx="31861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Cursor &amp; Claude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코드 자동 생성 및 디버깅 보조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386388" y="1761688"/>
            <a:ext cx="31861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GPT-4o API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공감 메시지 및 데일리 질문 생성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386388" y="1967405"/>
            <a:ext cx="31861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Manus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서비스 시나리오 정리 및 문서 초안 생성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5386388" y="2173123"/>
            <a:ext cx="318611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80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Hugging Face</a:t>
            </a: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한국어 감정 분류 모델 최적화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100638" y="2593153"/>
            <a:ext cx="3543300" cy="1857375"/>
          </a:xfrm>
          <a:prstGeom prst="rect">
            <a:avLst/>
          </a:prstGeom>
          <a:solidFill>
            <a:srgbClr val="FFFFFF"/>
          </a:solidFill>
          <a:ln w="36576">
            <a:solidFill>
              <a:srgbClr val="FFFF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25" y="2628872"/>
            <a:ext cx="3214688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5478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프로젝트 추진 일정: 15주차 상세 계획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995604"/>
            <a:ext cx="8001000" cy="27676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95604"/>
            <a:ext cx="928688" cy="2571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995604"/>
            <a:ext cx="928688" cy="257175"/>
          </a:xfrm>
          <a:prstGeom prst="rect">
            <a:avLst/>
          </a:prstGeom>
          <a:noFill/>
          <a:ln/>
        </p:spPr>
        <p:txBody>
          <a:bodyPr wrap="non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주차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500188" y="995604"/>
            <a:ext cx="931227" cy="2571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5"/>
          <p:cNvSpPr/>
          <p:nvPr/>
        </p:nvSpPr>
        <p:spPr>
          <a:xfrm>
            <a:off x="1500188" y="995604"/>
            <a:ext cx="931227" cy="257175"/>
          </a:xfrm>
          <a:prstGeom prst="rect">
            <a:avLst/>
          </a:prstGeom>
          <a:noFill/>
          <a:ln/>
        </p:spPr>
        <p:txBody>
          <a:bodyPr wrap="non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단계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431414" y="995604"/>
            <a:ext cx="6141086" cy="2571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7"/>
          <p:cNvSpPr/>
          <p:nvPr/>
        </p:nvSpPr>
        <p:spPr>
          <a:xfrm>
            <a:off x="2431414" y="995604"/>
            <a:ext cx="6141086" cy="257175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상세 활동 및 과업 내용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71500" y="1252779"/>
            <a:ext cx="928688" cy="2753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521005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1252779"/>
            <a:ext cx="928688" cy="275369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1-2주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607344" y="1340290"/>
            <a:ext cx="271463" cy="1485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5" name="Text 12"/>
          <p:cNvSpPr/>
          <p:nvPr/>
        </p:nvSpPr>
        <p:spPr>
          <a:xfrm>
            <a:off x="1607344" y="1340290"/>
            <a:ext cx="271463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기획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431414" y="1252779"/>
            <a:ext cx="6141086" cy="275369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주제 확정, 요구사항 정의, 기존 서비스(Between, Sumone 등) 벤치마킹 및 차별화 전략 수립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71500" y="1528149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1799946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1528149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3-4주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607344" y="1619231"/>
            <a:ext cx="271463" cy="1485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1" name="Text 18"/>
          <p:cNvSpPr/>
          <p:nvPr/>
        </p:nvSpPr>
        <p:spPr>
          <a:xfrm>
            <a:off x="1607344" y="1619231"/>
            <a:ext cx="271463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분석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431414" y="1528149"/>
            <a:ext cx="6141086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데이터셋 조사(AI Hub, Hugging Face), DB 스키마 설계, 와이어프레임 및 디자인 시스템 구축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1500" y="1807090"/>
            <a:ext cx="8001000" cy="278941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1807090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2078887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1807090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5주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607344" y="1898173"/>
            <a:ext cx="428625" cy="1485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8" name="Text 25"/>
          <p:cNvSpPr/>
          <p:nvPr/>
        </p:nvSpPr>
        <p:spPr>
          <a:xfrm>
            <a:off x="1607344" y="1898173"/>
            <a:ext cx="428625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마일스톤</a:t>
            </a:r>
            <a:endParaRPr lang="en-US" sz="6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571" y="1946197"/>
            <a:ext cx="85725" cy="857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652871" y="1939054"/>
            <a:ext cx="153054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E53E3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Milestone 1: 데이터 수집 및 전처리 완료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4183419" y="1924766"/>
            <a:ext cx="13073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형태소 분석기(KoNLPy) 세팅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571500" y="2086031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3" name="Shape 29"/>
          <p:cNvSpPr/>
          <p:nvPr/>
        </p:nvSpPr>
        <p:spPr>
          <a:xfrm>
            <a:off x="571500" y="2357828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0"/>
          <p:cNvSpPr/>
          <p:nvPr/>
        </p:nvSpPr>
        <p:spPr>
          <a:xfrm>
            <a:off x="571500" y="2086031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6-7주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1607344" y="2177114"/>
            <a:ext cx="271463" cy="1485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36" name="Text 32"/>
          <p:cNvSpPr/>
          <p:nvPr/>
        </p:nvSpPr>
        <p:spPr>
          <a:xfrm>
            <a:off x="1607344" y="2177114"/>
            <a:ext cx="271463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개발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2431414" y="2086031"/>
            <a:ext cx="6141086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KoBERT 감정 분류 모델 설계 및 학습 시작, Flutter 기본 환경 구축 및 UI 컴포넌트 개발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571500" y="2364972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Shape 35"/>
          <p:cNvSpPr/>
          <p:nvPr/>
        </p:nvSpPr>
        <p:spPr>
          <a:xfrm>
            <a:off x="571500" y="2636769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6"/>
          <p:cNvSpPr/>
          <p:nvPr/>
        </p:nvSpPr>
        <p:spPr>
          <a:xfrm>
            <a:off x="571500" y="2364972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8-9주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1607344" y="2456055"/>
            <a:ext cx="271463" cy="1485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42" name="Text 38"/>
          <p:cNvSpPr/>
          <p:nvPr/>
        </p:nvSpPr>
        <p:spPr>
          <a:xfrm>
            <a:off x="1607344" y="2456055"/>
            <a:ext cx="271463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개발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2431414" y="2364972"/>
            <a:ext cx="6141086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분석 모델 정확도 개선, Firebase Auth 및 Realtime DB 연동, 캐릭터 성장 로직 구현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571500" y="2643913"/>
            <a:ext cx="8001000" cy="278941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5" name="Shape 41"/>
          <p:cNvSpPr/>
          <p:nvPr/>
        </p:nvSpPr>
        <p:spPr>
          <a:xfrm>
            <a:off x="571500" y="2643913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Shape 42"/>
          <p:cNvSpPr/>
          <p:nvPr/>
        </p:nvSpPr>
        <p:spPr>
          <a:xfrm>
            <a:off x="571500" y="2915710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3"/>
          <p:cNvSpPr/>
          <p:nvPr/>
        </p:nvSpPr>
        <p:spPr>
          <a:xfrm>
            <a:off x="571500" y="2643913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10주</a:t>
            </a:r>
            <a:endParaRPr lang="en-US" sz="700" dirty="0"/>
          </a:p>
        </p:txBody>
      </p:sp>
      <p:sp>
        <p:nvSpPr>
          <p:cNvPr id="48" name="Shape 44"/>
          <p:cNvSpPr/>
          <p:nvPr/>
        </p:nvSpPr>
        <p:spPr>
          <a:xfrm>
            <a:off x="1607344" y="2734996"/>
            <a:ext cx="428625" cy="1485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49" name="Text 45"/>
          <p:cNvSpPr/>
          <p:nvPr/>
        </p:nvSpPr>
        <p:spPr>
          <a:xfrm>
            <a:off x="1607344" y="2734996"/>
            <a:ext cx="428625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마일스톤</a:t>
            </a:r>
            <a:endParaRPr lang="en-US" sz="60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71" y="2783021"/>
            <a:ext cx="85725" cy="85725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2652871" y="2775877"/>
            <a:ext cx="17037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E53E3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Milestone 2: 기획서 및 중간 프로토타입 발표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4356655" y="2761590"/>
            <a:ext cx="10072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UI/UX 1차 피드백 수렴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571500" y="2922854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4" name="Shape 49"/>
          <p:cNvSpPr/>
          <p:nvPr/>
        </p:nvSpPr>
        <p:spPr>
          <a:xfrm>
            <a:off x="571500" y="3194652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0"/>
          <p:cNvSpPr/>
          <p:nvPr/>
        </p:nvSpPr>
        <p:spPr>
          <a:xfrm>
            <a:off x="571500" y="2922854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11-12주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1607344" y="3013937"/>
            <a:ext cx="271463" cy="14856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57" name="Text 52"/>
          <p:cNvSpPr/>
          <p:nvPr/>
        </p:nvSpPr>
        <p:spPr>
          <a:xfrm>
            <a:off x="1607344" y="3013937"/>
            <a:ext cx="271463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통합</a:t>
            </a:r>
            <a:endParaRPr lang="en-US" sz="600" dirty="0"/>
          </a:p>
        </p:txBody>
      </p:sp>
      <p:sp>
        <p:nvSpPr>
          <p:cNvPr id="58" name="Text 53"/>
          <p:cNvSpPr/>
          <p:nvPr/>
        </p:nvSpPr>
        <p:spPr>
          <a:xfrm>
            <a:off x="2431414" y="2922854"/>
            <a:ext cx="6141086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 GPT API 연동(공감 메시지/질문 생성), 감정 분석 결과와 GPT 응답 로직 결합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571500" y="3201795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0" name="Shape 55"/>
          <p:cNvSpPr/>
          <p:nvPr/>
        </p:nvSpPr>
        <p:spPr>
          <a:xfrm>
            <a:off x="571500" y="3473593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6"/>
          <p:cNvSpPr/>
          <p:nvPr/>
        </p:nvSpPr>
        <p:spPr>
          <a:xfrm>
            <a:off x="571500" y="3201795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13-14주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1607344" y="3292878"/>
            <a:ext cx="350044" cy="14856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3" name="Text 58"/>
          <p:cNvSpPr/>
          <p:nvPr/>
        </p:nvSpPr>
        <p:spPr>
          <a:xfrm>
            <a:off x="1607344" y="3292878"/>
            <a:ext cx="3500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테스트</a:t>
            </a:r>
            <a:endParaRPr lang="en-US" sz="600" dirty="0"/>
          </a:p>
        </p:txBody>
      </p:sp>
      <p:sp>
        <p:nvSpPr>
          <p:cNvPr id="64" name="Text 59"/>
          <p:cNvSpPr/>
          <p:nvPr/>
        </p:nvSpPr>
        <p:spPr>
          <a:xfrm>
            <a:off x="2431414" y="3201795"/>
            <a:ext cx="6141086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실제 가족 사용자 대상 테스트 진행, 감정 분석 정확도 측정 및 프롬프트 튜닝, 버그 수정</a:t>
            </a:r>
            <a:endParaRPr lang="en-US" sz="750" dirty="0"/>
          </a:p>
        </p:txBody>
      </p:sp>
      <p:sp>
        <p:nvSpPr>
          <p:cNvPr id="65" name="Shape 60"/>
          <p:cNvSpPr/>
          <p:nvPr/>
        </p:nvSpPr>
        <p:spPr>
          <a:xfrm>
            <a:off x="571500" y="3480736"/>
            <a:ext cx="8001000" cy="278941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6" name="Shape 61"/>
          <p:cNvSpPr/>
          <p:nvPr/>
        </p:nvSpPr>
        <p:spPr>
          <a:xfrm>
            <a:off x="571500" y="3480736"/>
            <a:ext cx="928688" cy="27894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7" name="Shape 62"/>
          <p:cNvSpPr/>
          <p:nvPr/>
        </p:nvSpPr>
        <p:spPr>
          <a:xfrm>
            <a:off x="571500" y="3752534"/>
            <a:ext cx="928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3"/>
          <p:cNvSpPr/>
          <p:nvPr/>
        </p:nvSpPr>
        <p:spPr>
          <a:xfrm>
            <a:off x="571500" y="3480736"/>
            <a:ext cx="928688" cy="278941"/>
          </a:xfrm>
          <a:prstGeom prst="rect">
            <a:avLst/>
          </a:prstGeom>
          <a:noFill/>
          <a:ln/>
        </p:spPr>
        <p:txBody>
          <a:bodyPr wrap="square" lIns="127508" tIns="102108" rIns="127508" bIns="8509" rtlCol="0" anchor="ctr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15주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1607344" y="3571819"/>
            <a:ext cx="428625" cy="14856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0" name="Text 65"/>
          <p:cNvSpPr/>
          <p:nvPr/>
        </p:nvSpPr>
        <p:spPr>
          <a:xfrm>
            <a:off x="1607344" y="3571819"/>
            <a:ext cx="428625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마일스톤</a:t>
            </a:r>
            <a:endParaRPr lang="en-US" sz="600" dirty="0"/>
          </a:p>
        </p:txBody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571" y="3619844"/>
            <a:ext cx="85725" cy="85725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2652871" y="3612700"/>
            <a:ext cx="14430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E53E3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Milestone 3: 최종 프로젝트 결과 발표</a:t>
            </a:r>
            <a:endParaRPr lang="en-US" sz="600" dirty="0"/>
          </a:p>
        </p:txBody>
      </p:sp>
      <p:sp>
        <p:nvSpPr>
          <p:cNvPr id="73" name="Text 67"/>
          <p:cNvSpPr/>
          <p:nvPr/>
        </p:nvSpPr>
        <p:spPr>
          <a:xfrm>
            <a:off x="4095908" y="3598413"/>
            <a:ext cx="15091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성과 분석 및 향후 고도화 계획 제시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91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결과 분석 및 개선 방안 제시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44337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4419" y="1305939"/>
            <a:ext cx="103941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분석 예정 항목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176849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35844" y="1732778"/>
            <a:ext cx="31789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모델 성능 분석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35844" y="1956020"/>
            <a:ext cx="31789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분석 모델의 정확도(Accuracy) 및 F1-Score를 측정하여 KoBERT 모델의 신뢰성 검증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491801"/>
            <a:ext cx="17859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1563" y="2456083"/>
            <a:ext cx="3143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사용자 참여 지표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071563" y="2679325"/>
            <a:ext cx="31432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가족 구성원의 일일 참여율, 앱 체류 시간 및 소통 빈도 데이터를 통해 서비스 활성도 분석</a:t>
            </a:r>
            <a:endParaRPr lang="en-US" sz="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215106"/>
            <a:ext cx="125016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7984" y="3179387"/>
            <a:ext cx="319682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기능 만족도 설문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017984" y="3402630"/>
            <a:ext cx="31968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캐릭터 성장 시스템 및 AI 질문 생성 기능에 대한 사용자 만족도 정성/정량 분석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4714875" y="1091626"/>
            <a:ext cx="3857625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344337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86363" y="1305939"/>
            <a:ext cx="155912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피드백 반영 개선 방향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768497"/>
            <a:ext cx="142875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79219" y="1732778"/>
            <a:ext cx="317896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응답 품질 고도화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5179219" y="1956020"/>
            <a:ext cx="317896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프롬프트 엔지니어링 튜닝을 통해 보다 자연스럽고 공감 능력 있는 AI 메시지 생성 로직 강화</a:t>
            </a:r>
            <a:endParaRPr lang="en-US" sz="8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491801"/>
            <a:ext cx="178594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4938" y="2456083"/>
            <a:ext cx="3143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게이미피케이션 다양화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5214938" y="2679325"/>
            <a:ext cx="31432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 피드백을 반영하여 캐릭터 성장 단계 및 정원 꾸미기 요소를 다각화하여 지속적 참여 유도</a:t>
            </a:r>
            <a:endParaRPr lang="en-US" sz="8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15106"/>
            <a:ext cx="178594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14938" y="3179387"/>
            <a:ext cx="3143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개인화 추천 기능 강화</a:t>
            </a:r>
            <a:endParaRPr lang="en-US" sz="900" dirty="0"/>
          </a:p>
        </p:txBody>
      </p:sp>
      <p:sp>
        <p:nvSpPr>
          <p:cNvPr id="27" name="Text 16"/>
          <p:cNvSpPr/>
          <p:nvPr/>
        </p:nvSpPr>
        <p:spPr>
          <a:xfrm>
            <a:off x="5214938" y="3402630"/>
            <a:ext cx="31432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가족별 소통 패턴 학습을 통해 상황에 맞는 대화 주제 추천 및 개인화된 요약 리포트 개선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사용자 테스트 및 분석 계획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6932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678" y="1234501"/>
            <a:ext cx="7679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테스트 대상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57250" y="1582759"/>
            <a:ext cx="3429000" cy="19430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대학생 (팀원 및 지인 그룹)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57250" y="1834214"/>
            <a:ext cx="3429000" cy="19430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실제 가족 단위 사용자 (10가족 목표)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7250" y="1582759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57250" y="1834214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7656"/>
            <a:ext cx="15716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388" y="2242831"/>
            <a:ext cx="9572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주요 평가 항목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57250" y="2591088"/>
            <a:ext cx="3429000" cy="19430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UX 만족도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UI 편의성 및 캐릭터 성장 시스템 재미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57250" y="2842543"/>
            <a:ext cx="3429000" cy="19430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정확도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감정 분석 결과의 실제 체감 일치도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857250" y="3093997"/>
            <a:ext cx="3429000" cy="19430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4A556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지속성</a:t>
            </a: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서비스 재방문 의사 및 소통 활성화 기여도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1500" y="3502614"/>
            <a:ext cx="3714750" cy="6858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2591088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57250" y="2842543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857250" y="3093997"/>
            <a:ext cx="42863" cy="194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714375" y="3645489"/>
            <a:ext cx="3429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피드백 반영 및 개선 방향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14375" y="3866945"/>
            <a:ext cx="34290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Forms 설문 및 앱 로그 분석을 통해 AI 응답 품질을 고도화하고, 사용자 맞춤형 추천 기능을 강화할 예정입니다.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34501"/>
            <a:ext cx="40005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기대효과: 사회적 가치와 기술적 성과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94" y="155239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2109611"/>
            <a:ext cx="209549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사회적 가치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5813" y="2500731"/>
            <a:ext cx="2095491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가족 간 정서적 거리 감소 및 소통 활성화를 통해 현대 사회의 고립 문제를 해결하고 유대감을 강화합니다.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309928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60" y="1552398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4241" y="2109611"/>
            <a:ext cx="209549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교육적 가치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24241" y="2500731"/>
            <a:ext cx="2095491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최신 AI 기술(감정 분석, 생성형 AI)을 실제 서비스에 적용하는 전 과정을 경험하며 기술적 역량을 축적합니다.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048356" y="1234501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950" y="1552398"/>
            <a:ext cx="342900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669" y="2109611"/>
            <a:ext cx="209549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산업적 가치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62669" y="2500731"/>
            <a:ext cx="2095491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감정 기반 AI 소통 플랫폼이라는 새로운 시장 진입 가능성을 확인하고 비즈니스 모델의 타당성을 검증합니다.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0" y="4592064"/>
            <a:ext cx="9144000" cy="36968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"기술로 가족의 마음을 잇는 </a:t>
            </a:r>
            <a:r>
              <a:rPr lang="en-US" sz="11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정서적 연결 고리</a:t>
            </a:r>
            <a:r>
              <a:rPr lang="en-US" sz="11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를 구축합니다."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한계점 및 향후 발전 방향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289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234501"/>
            <a:ext cx="99119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현재의 한계점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571500" y="1661340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804215"/>
            <a:ext cx="35004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텍스트 기반 분석의 한계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14375" y="2048889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현재는 텍스트 입력에만 의존하여 사용자의 실제 목소리 톤이나 표정에 담긴 미세한 감정을 파악하는 데 한계가 있음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71500" y="2661465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714375" y="2804340"/>
            <a:ext cx="35004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능동적 기록 의존성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14375" y="3049014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사용자가 직접 일상을 기록해야만 분석이 가능하므로, 바쁜 일상 속에서 지속적인 참여를 유도하는 데 어려움이 존재함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27289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43488" y="1234501"/>
            <a:ext cx="103941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향후 발전 방향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86313" y="1661340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4929188" y="1804215"/>
            <a:ext cx="35004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멀티모달 AI 도입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929188" y="2048889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텍스트뿐만 아니라 음성 감정 분석 및 표정 인식 기술을 결합하여 보다 입체적이고 정확한 감정 분석 시스템 구축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786313" y="2661465"/>
            <a:ext cx="3786188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4929188" y="2804340"/>
            <a:ext cx="35004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서비스 확장 및 고도화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929188" y="3049014"/>
            <a:ext cx="35004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웨어러블 기기 연동을 통한 자동 상태 감지, 노인 돌봄 서비스 연계 및 전문적인 AI 상담 기능 추가로 서비스 범위 확장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참고 문헌 및 자료 출처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9682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234501"/>
            <a:ext cx="1864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&amp; LLM Documentation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857250" y="1522037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OpenAI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(2024). GPT-4o API 공식 문서. https://platform.openai.com/docs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57250" y="1893512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Hugging Face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(2024). Transformers Documentation. https://huggingface.co/docs/transformers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57250" y="2264987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SKTBrain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(2020). KoBERT GitHub Repository. https://github.com/SKTBrain/KoBERT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249682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11328" y="1234501"/>
            <a:ext cx="12251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Datasets &amp; Tools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000625" y="1522037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Hub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(2024). 한국어 감정 분석 데이터셋. https://aihub.or.kr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5000625" y="1743494"/>
            <a:ext cx="3571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Google Firebase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(2024). Firebase 공식 문서. https://firebase.google.com/docs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000625" y="2114969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Flutter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(2024). Flutter Documentation. https://docs.flutter.dev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3130"/>
            <a:ext cx="12501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7953" y="3107950"/>
            <a:ext cx="14394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Research &amp; Articles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57250" y="3395486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감정 분석 기술의 동향 및 가족 소통 플랫폼 시장 조사 보고서 (2024)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857250" y="3616942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게이미피케이션을 활용한 모바일 앱 지속 사용 의도에 관한 연구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123130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29188" y="3107950"/>
            <a:ext cx="1657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Development Support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000625" y="3395486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Cursor &amp; Claude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AI-assisted coding and debugging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5000625" y="3616942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750" b="1" dirty="0">
                <a:solidFill>
                  <a:srgbClr val="2D374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Manus</a:t>
            </a:r>
            <a:r>
              <a:rPr lang="en-US" sz="8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Project structuring and documentation support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571500" y="4713089"/>
            <a:ext cx="399514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© 2026 에이원하조 (A1HaJo) - AI Family Communication Platform Project Proposal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2026-05-12T05:59:43Z</dcterms:created>
  <dcterms:modified xsi:type="dcterms:W3CDTF">2026-05-12T05:59:43Z</dcterms:modified>
</cp:coreProperties>
</file>